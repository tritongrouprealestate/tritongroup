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49840" y="292608"/>
            <a:ext cx="1828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BE3C28"/>
                </a:solidFill>
              </a:rPr>
              <a:t>PLACEHOLDER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600" b="1">
                <a:solidFill>
                  <a:srgbClr val="111214"/>
                </a:solidFill>
              </a:rPr>
              <a:t>Sanvi Aero Gardens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6616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A8762C"/>
                </a:solidFill>
              </a:rPr>
              <a:t>1, 2 &amp; 3 BHK · Near Bengaluru Airport — placeholder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49840" y="292608"/>
            <a:ext cx="1828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BE3C28"/>
                </a:solidFill>
              </a:rPr>
              <a:t>PLACEHOLDER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214"/>
                </a:solidFill>
              </a:rPr>
              <a:t>Why Sanvi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28800"/>
            <a:ext cx="10424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700">
                <a:solidFill>
                  <a:srgbClr val="3A3D44"/>
                </a:solidFill>
              </a:rPr>
              <a:t>•  Placeholder positioning line</a:t>
            </a:r>
          </a:p>
          <a:p>
            <a:pPr>
              <a:spcAft>
                <a:spcPts val="1300"/>
              </a:spcAft>
            </a:pPr>
            <a:r>
              <a:rPr sz="1700">
                <a:solidFill>
                  <a:srgbClr val="3A3D44"/>
                </a:solidFill>
              </a:rPr>
              <a:t>•  Placeholder connectivity line</a:t>
            </a:r>
          </a:p>
          <a:p>
            <a:pPr>
              <a:spcAft>
                <a:spcPts val="1300"/>
              </a:spcAft>
            </a:pPr>
            <a:r>
              <a:rPr sz="1700">
                <a:solidFill>
                  <a:srgbClr val="3A3D44"/>
                </a:solidFill>
              </a:rPr>
              <a:t>•  Placeholder amenity line</a:t>
            </a:r>
          </a:p>
          <a:p>
            <a:pPr>
              <a:spcAft>
                <a:spcPts val="1300"/>
              </a:spcAft>
            </a:pPr>
            <a:r>
              <a:rPr sz="1700">
                <a:solidFill>
                  <a:srgbClr val="3A3D44"/>
                </a:solidFill>
              </a:rPr>
              <a:t>•  Placeholder investment line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49840" y="292608"/>
            <a:ext cx="1828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BE3C28"/>
                </a:solidFill>
              </a:rPr>
              <a:t>PLACEHOLDER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214"/>
                </a:solidFill>
              </a:rPr>
              <a:t>Configurations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28800"/>
            <a:ext cx="10424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700">
                <a:solidFill>
                  <a:srgbClr val="3A3D44"/>
                </a:solidFill>
              </a:rPr>
              <a:t>•  1 BHK · 672 sq ft SBA</a:t>
            </a:r>
          </a:p>
          <a:p>
            <a:pPr>
              <a:spcAft>
                <a:spcPts val="1300"/>
              </a:spcAft>
            </a:pPr>
            <a:r>
              <a:rPr sz="1700">
                <a:solidFill>
                  <a:srgbClr val="3A3D44"/>
                </a:solidFill>
              </a:rPr>
              <a:t>•  2 BHK · 1,015 – 1,102 sq ft SBA</a:t>
            </a:r>
          </a:p>
          <a:p>
            <a:pPr>
              <a:spcAft>
                <a:spcPts val="1300"/>
              </a:spcAft>
            </a:pPr>
            <a:r>
              <a:rPr sz="1700">
                <a:solidFill>
                  <a:srgbClr val="3A3D44"/>
                </a:solidFill>
              </a:rPr>
              <a:t>•  3 BHK · 1,540 – 1,638 sq ft SBA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49840" y="292608"/>
            <a:ext cx="1828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BE3C28"/>
                </a:solidFill>
              </a:rPr>
              <a:t>PLACEHOLDER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214"/>
                </a:solidFill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28800"/>
            <a:ext cx="10424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700">
                <a:solidFill>
                  <a:srgbClr val="3A3D44"/>
                </a:solidFill>
              </a:rPr>
              <a:t>•  Replace this deck with the approved brochure PPT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